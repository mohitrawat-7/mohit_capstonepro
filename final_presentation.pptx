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ay" panose="020B0604020202020204" charset="0"/>
      <p:regular r:id="rId15"/>
      <p:bold r:id="rId16"/>
    </p:embeddedFon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Poppins ExtraLight" panose="020B0604020202020204" charset="0"/>
      <p:regular r:id="rId21"/>
      <p:bold r:id="rId22"/>
      <p:italic r:id="rId23"/>
      <p:boldItalic r:id="rId24"/>
    </p:embeddedFont>
    <p:embeddedFont>
      <p:font typeface="Poppins Light" panose="020B0604020202020204" charset="0"/>
      <p:regular r:id="rId25"/>
      <p:bold r:id="rId26"/>
      <p:italic r:id="rId27"/>
      <p:boldItalic r:id="rId28"/>
    </p:embeddedFont>
    <p:embeddedFont>
      <p:font typeface="Poppins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3593A7-778B-4FA9-BA18-24F12C0A7A28}">
  <a:tblStyle styleId="{4A3593A7-778B-4FA9-BA18-24F12C0A7A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084373d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39a084373d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a084373d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9a084373d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a084373d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9a084373d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a084373d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9a084373d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a084373d1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9a084373d1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a084373d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g39a084373d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t="13442" r="31181" b="12816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 amt="28000"/>
          </a:blip>
          <a:srcRect l="44660" t="13442" r="31184" b="12816"/>
          <a:stretch/>
        </p:blipFill>
        <p:spPr>
          <a:xfrm>
            <a:off x="7912575" y="0"/>
            <a:ext cx="4279424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69209" y="4962709"/>
            <a:ext cx="8791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TEAM,</a:t>
            </a:r>
            <a:r>
              <a:rPr lang="en-IN" sz="1200">
                <a:latin typeface="Poppins ExtraLight"/>
                <a:ea typeface="Poppins ExtraLight"/>
                <a:cs typeface="Poppins ExtraLight"/>
                <a:sym typeface="Poppins ExtraLight"/>
              </a:rPr>
              <a:t> </a:t>
            </a:r>
            <a:r>
              <a:rPr lang="en-IN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MBA Business Analytics (Batch 1 )</a:t>
            </a:r>
            <a:endParaRPr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lt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Mohit Rawat, Taranveer Singh Sudan, Anurag Malgaya, Sanya Gupta, Shivangi Jaiswal, Hitansh Garg</a:t>
            </a:r>
            <a:endParaRPr>
              <a:solidFill>
                <a:schemeClr val="lt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14854" y="1426025"/>
            <a:ext cx="85863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Energy Load Forecasting: Actionable ML for TATA Power</a:t>
            </a:r>
            <a:endParaRPr sz="4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50156" y="3955059"/>
            <a:ext cx="7734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Objective: Build a data-driven model to identify key patterns, improve forecasting, and support better business decisions.</a:t>
            </a:r>
            <a:endParaRPr sz="53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293225" y="231406"/>
            <a:ext cx="509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 sz="2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4" name="Google Shape;94;p14"/>
          <p:cNvCxnSpPr/>
          <p:nvPr/>
        </p:nvCxnSpPr>
        <p:spPr>
          <a:xfrm>
            <a:off x="293225" y="1088021"/>
            <a:ext cx="11605550" cy="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" name="Google Shape;95;p14"/>
          <p:cNvSpPr txBox="1"/>
          <p:nvPr/>
        </p:nvSpPr>
        <p:spPr>
          <a:xfrm>
            <a:off x="647575" y="1844227"/>
            <a:ext cx="9972300" cy="42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Tata Power needed deeper visibility into load behavior, renewable integration, and EV adoption impact.</a:t>
            </a:r>
            <a:b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unified data-driven mechanism to forecast demand variations across residential consumers.</a:t>
            </a:r>
            <a:b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Increasing solar penetration and electrification (EVs, appliances) required forecasting models.</a:t>
            </a:r>
            <a:b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I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Voltage fluctuations during peak load periods needed diagnostic insights.</a:t>
            </a:r>
            <a:br>
              <a:rPr lang="en-I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96" name="Google Shape;96;p14"/>
          <p:cNvCxnSpPr/>
          <p:nvPr/>
        </p:nvCxnSpPr>
        <p:spPr>
          <a:xfrm>
            <a:off x="293250" y="6095521"/>
            <a:ext cx="11605500" cy="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7" name="Google Shape;97;p14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/>
        </p:nvSpPr>
        <p:spPr>
          <a:xfrm>
            <a:off x="293225" y="312256"/>
            <a:ext cx="509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 sz="2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4" name="Google Shape;104;p15"/>
          <p:cNvCxnSpPr/>
          <p:nvPr/>
        </p:nvCxnSpPr>
        <p:spPr>
          <a:xfrm>
            <a:off x="293225" y="1088021"/>
            <a:ext cx="116055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5"/>
          <p:cNvSpPr/>
          <p:nvPr/>
        </p:nvSpPr>
        <p:spPr>
          <a:xfrm>
            <a:off x="992137" y="2014844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487542" lvl="0" indent="0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Net Residential Load (MW)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992137" y="2878787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0" lvl="0" indent="487542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Temperature profiles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992137" y="3776856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487542" lvl="0" indent="0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Grid Voltage readings (V)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3662825" y="4674925"/>
            <a:ext cx="4866300" cy="778800"/>
          </a:xfrm>
          <a:prstGeom prst="roundRect">
            <a:avLst>
              <a:gd name="adj" fmla="val 16667"/>
            </a:avLst>
          </a:prstGeom>
          <a:solidFill>
            <a:srgbClr val="0D3894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487542" lvl="0" indent="0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Timestamp-level consumption data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362075" y="2878787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3C78D8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	EV Charging Load (kW)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362075" y="2014844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6D9EEB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0" lvl="0" indent="487542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Solar Irradiance Data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362075" y="3776856"/>
            <a:ext cx="4866300" cy="6657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 w="10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500" tIns="97500" rIns="97500" bIns="975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80"/>
              </a:spcBef>
              <a:spcAft>
                <a:spcPts val="1280"/>
              </a:spcAft>
              <a:buNone/>
            </a:pPr>
            <a:r>
              <a:rPr lang="en-IN" sz="185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Appliance saturation indicators </a:t>
            </a:r>
            <a:endParaRPr sz="185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12" name="Google Shape;112;p15"/>
          <p:cNvCxnSpPr/>
          <p:nvPr/>
        </p:nvCxnSpPr>
        <p:spPr>
          <a:xfrm>
            <a:off x="293225" y="1088021"/>
            <a:ext cx="11605500" cy="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13" name="Google Shape;113;p15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698750" y="1390375"/>
            <a:ext cx="4593600" cy="384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KPIs categorized for Tata Power operations:</a:t>
            </a:r>
            <a:endParaRPr sz="30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77550" y="0"/>
            <a:ext cx="6414300" cy="1389600"/>
          </a:xfrm>
          <a:prstGeom prst="rect">
            <a:avLst/>
          </a:prstGeom>
          <a:solidFill>
            <a:srgbClr val="B8CFF8"/>
          </a:solidFill>
          <a:ln w="11550" cap="flat" cmpd="sng">
            <a:solidFill>
              <a:srgbClr val="B8C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2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Renewable &amp; Solar KPIs</a:t>
            </a:r>
            <a:endParaRPr sz="16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77550" y="1390369"/>
            <a:ext cx="6414300" cy="1389600"/>
          </a:xfrm>
          <a:prstGeom prst="rect">
            <a:avLst/>
          </a:prstGeom>
          <a:solidFill>
            <a:srgbClr val="6D9EEB"/>
          </a:solidFill>
          <a:ln w="1155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2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Load &amp; Demand KPIs</a:t>
            </a:r>
            <a:endParaRPr sz="16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77550" y="2741321"/>
            <a:ext cx="6414300" cy="1389600"/>
          </a:xfrm>
          <a:prstGeom prst="rect">
            <a:avLst/>
          </a:prstGeom>
          <a:solidFill>
            <a:srgbClr val="3C78D8"/>
          </a:solidFill>
          <a:ln w="115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2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Grid Stability &amp; Voltage KPIs</a:t>
            </a:r>
            <a:endParaRPr sz="16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777550" y="4104936"/>
            <a:ext cx="6414300" cy="1389600"/>
          </a:xfrm>
          <a:prstGeom prst="rect">
            <a:avLst/>
          </a:prstGeom>
          <a:solidFill>
            <a:srgbClr val="1155CC"/>
          </a:solidFill>
          <a:ln w="115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2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 Charging Impact KPIs</a:t>
            </a:r>
            <a:endParaRPr sz="16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777550" y="5468550"/>
            <a:ext cx="6414300" cy="1389600"/>
          </a:xfrm>
          <a:prstGeom prst="rect">
            <a:avLst/>
          </a:prstGeom>
          <a:solidFill>
            <a:srgbClr val="1C4587"/>
          </a:solidFill>
          <a:ln w="115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26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Appliance &amp; Behavioral KPIs</a:t>
            </a:r>
            <a:endParaRPr sz="1698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0" y="-75"/>
            <a:ext cx="6414300" cy="1389600"/>
          </a:xfrm>
          <a:prstGeom prst="rect">
            <a:avLst/>
          </a:prstGeom>
          <a:solidFill>
            <a:srgbClr val="B8CFF8"/>
          </a:solidFill>
          <a:ln w="11550" cap="flat" cmpd="sng">
            <a:solidFill>
              <a:srgbClr val="B8CF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Average Net Residential Load (MW)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0" y="1390294"/>
            <a:ext cx="6414300" cy="1389600"/>
          </a:xfrm>
          <a:prstGeom prst="rect">
            <a:avLst/>
          </a:prstGeom>
          <a:solidFill>
            <a:srgbClr val="6D9EEB"/>
          </a:solidFill>
          <a:ln w="11550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Peak Load Demand (MW)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0" y="2741246"/>
            <a:ext cx="6414300" cy="1389600"/>
          </a:xfrm>
          <a:prstGeom prst="rect">
            <a:avLst/>
          </a:prstGeom>
          <a:solidFill>
            <a:srgbClr val="3C78D8"/>
          </a:solidFill>
          <a:ln w="115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Daily Load Variation (%)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0" y="4104861"/>
            <a:ext cx="6414300" cy="1389600"/>
          </a:xfrm>
          <a:prstGeom prst="rect">
            <a:avLst/>
          </a:prstGeom>
          <a:solidFill>
            <a:srgbClr val="1155CC"/>
          </a:solidFill>
          <a:ln w="11550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Load Factor (%)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0" y="5468475"/>
            <a:ext cx="6414300" cy="1389600"/>
          </a:xfrm>
          <a:prstGeom prst="rect">
            <a:avLst/>
          </a:prstGeom>
          <a:solidFill>
            <a:srgbClr val="1C4587"/>
          </a:solidFill>
          <a:ln w="115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0900" tIns="110900" rIns="110900" bIns="11090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2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Weekend vs Weekday Load Difference (%)</a:t>
            </a:r>
            <a:endParaRPr sz="2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925950" y="1518921"/>
            <a:ext cx="4771500" cy="3848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30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Load &amp; Demand KPIs</a:t>
            </a:r>
            <a:endParaRPr sz="30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1004920" y="1512098"/>
            <a:ext cx="5256300" cy="1884900"/>
          </a:xfrm>
          <a:prstGeom prst="roundRect">
            <a:avLst>
              <a:gd name="adj" fmla="val 9338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Removed duplicate smart-meter readings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Treated missing values in Net Load, Voltage, Solar Irradiance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Applied interpolation for time-series gaps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293225" y="186525"/>
            <a:ext cx="9169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Data Cleaning Summary</a:t>
            </a:r>
            <a:endParaRPr sz="2800" b="1" i="0" u="none" strike="noStrike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707100" y="4284121"/>
            <a:ext cx="5256300" cy="1959600"/>
          </a:xfrm>
          <a:prstGeom prst="roundRect">
            <a:avLst>
              <a:gd name="adj" fmla="val 10482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Corrected EV charging spikes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Removed solar irradiance anomalies (cloudy periods)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Fixed voltage dips outside permissible limits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232452" y="4094366"/>
            <a:ext cx="5256300" cy="1959600"/>
          </a:xfrm>
          <a:prstGeom prst="roundRect">
            <a:avLst>
              <a:gd name="adj" fmla="val 11102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Aligned Load, Solar, EV Load, Voltage on a common timeline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Removed inconsistent / partial records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231077" y="1582850"/>
            <a:ext cx="5256300" cy="1959600"/>
          </a:xfrm>
          <a:prstGeom prst="roundRect">
            <a:avLst>
              <a:gd name="adj" fmla="val 10633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Converted timestamps to proper datetime index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Resampled data to uniform intervals (hourly / 15-min)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Standardized units (kW → MW, voltage normalization)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12263525" y="7102130"/>
            <a:ext cx="8523900" cy="519000"/>
          </a:xfrm>
          <a:prstGeom prst="roundRect">
            <a:avLst>
              <a:gd name="adj" fmla="val 10133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0D3894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r>
              <a:rPr lang="en-I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Clean, consistent, time-aligned dataset ready for modeling.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>
            <a:off x="262750" y="3749661"/>
            <a:ext cx="11605500" cy="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8" name="Google Shape;148;p18"/>
          <p:cNvCxnSpPr/>
          <p:nvPr/>
        </p:nvCxnSpPr>
        <p:spPr>
          <a:xfrm rot="10800000">
            <a:off x="5954557" y="1105316"/>
            <a:ext cx="900" cy="5225400"/>
          </a:xfrm>
          <a:prstGeom prst="straightConnector1">
            <a:avLst/>
          </a:prstGeom>
          <a:noFill/>
          <a:ln w="19050" cap="flat" cmpd="sng">
            <a:solidFill>
              <a:srgbClr val="1155C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8"/>
          <p:cNvSpPr/>
          <p:nvPr/>
        </p:nvSpPr>
        <p:spPr>
          <a:xfrm>
            <a:off x="933295" y="993100"/>
            <a:ext cx="4803900" cy="51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b="1">
                <a:solidFill>
                  <a:srgbClr val="0D3894"/>
                </a:solidFill>
                <a:latin typeface="Poppins"/>
                <a:ea typeface="Poppins"/>
                <a:cs typeface="Poppins"/>
                <a:sym typeface="Poppins"/>
              </a:rPr>
              <a:t>Duplicate &amp; Missing Data Handling</a:t>
            </a:r>
            <a:endParaRPr sz="1300"/>
          </a:p>
        </p:txBody>
      </p:sp>
      <p:sp>
        <p:nvSpPr>
          <p:cNvPr id="150" name="Google Shape;150;p18"/>
          <p:cNvSpPr/>
          <p:nvPr/>
        </p:nvSpPr>
        <p:spPr>
          <a:xfrm>
            <a:off x="6571477" y="993100"/>
            <a:ext cx="4803900" cy="51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b="1">
                <a:solidFill>
                  <a:srgbClr val="0D3894"/>
                </a:solidFill>
                <a:latin typeface="Poppins"/>
                <a:ea typeface="Poppins"/>
                <a:cs typeface="Poppins"/>
                <a:sym typeface="Poppins"/>
              </a:rPr>
              <a:t>Data Type &amp; Format Fixing</a:t>
            </a:r>
            <a:endParaRPr sz="1300"/>
          </a:p>
        </p:txBody>
      </p:sp>
      <p:sp>
        <p:nvSpPr>
          <p:cNvPr id="151" name="Google Shape;151;p18"/>
          <p:cNvSpPr/>
          <p:nvPr/>
        </p:nvSpPr>
        <p:spPr>
          <a:xfrm>
            <a:off x="6458652" y="3885874"/>
            <a:ext cx="4803900" cy="51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b="1">
                <a:solidFill>
                  <a:srgbClr val="0D3894"/>
                </a:solidFill>
                <a:latin typeface="Poppins"/>
                <a:ea typeface="Poppins"/>
                <a:cs typeface="Poppins"/>
                <a:sym typeface="Poppins"/>
              </a:rPr>
              <a:t>Feature Alignment</a:t>
            </a:r>
            <a:endParaRPr sz="1300"/>
          </a:p>
        </p:txBody>
      </p:sp>
      <p:sp>
        <p:nvSpPr>
          <p:cNvPr id="152" name="Google Shape;152;p18"/>
          <p:cNvSpPr txBox="1"/>
          <p:nvPr/>
        </p:nvSpPr>
        <p:spPr>
          <a:xfrm>
            <a:off x="1835250" y="392873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>
                <a:solidFill>
                  <a:srgbClr val="0D3894"/>
                </a:solidFill>
                <a:latin typeface="Poppins"/>
                <a:ea typeface="Poppins"/>
                <a:cs typeface="Poppins"/>
                <a:sym typeface="Poppins"/>
              </a:rPr>
              <a:t>Outlier &amp; Spike Correction</a:t>
            </a:r>
            <a:endParaRPr sz="1300"/>
          </a:p>
        </p:txBody>
      </p:sp>
      <p:pic>
        <p:nvPicPr>
          <p:cNvPr id="153" name="Google Shape;153;p18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/>
        </p:nvSpPr>
        <p:spPr>
          <a:xfrm>
            <a:off x="293225" y="273506"/>
            <a:ext cx="509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EDA Summary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52017" y="4033262"/>
            <a:ext cx="3157200" cy="1996500"/>
          </a:xfrm>
          <a:prstGeom prst="wedgeRoundRectCallout">
            <a:avLst>
              <a:gd name="adj1" fmla="val 67403"/>
              <a:gd name="adj2" fmla="val 647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Clear weekday vs weekend consumption difference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Temperature shows strong influence on load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Solar generation reduces net load during daytime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552018" y="1297199"/>
            <a:ext cx="3068400" cy="1839000"/>
          </a:xfrm>
          <a:prstGeom prst="wedgeRoundRectCallout">
            <a:avLst>
              <a:gd name="adj1" fmla="val 66239"/>
              <a:gd name="adj2" fmla="val -15171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Checked for duplicate rows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Identified and treated null values in key fields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Ensured consistent timestamp continuity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067938" y="3950021"/>
            <a:ext cx="3489300" cy="1996500"/>
          </a:xfrm>
          <a:prstGeom prst="wedgeRoundRectCallout">
            <a:avLst>
              <a:gd name="adj1" fmla="val -66007"/>
              <a:gd name="adj2" fmla="val 9380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High correlation: Temperature ↔ Load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Negative correlation: Solar irradiance ↔ Net Load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EV load contributes significantly to evening peak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8184754" y="1207200"/>
            <a:ext cx="3310200" cy="2079000"/>
          </a:xfrm>
          <a:prstGeom prst="wedgeRoundRectCallout">
            <a:avLst>
              <a:gd name="adj1" fmla="val -64101"/>
              <a:gd name="adj2" fmla="val -12380"/>
              <a:gd name="adj3" fmla="val 0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Load values show evening peak behavior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EV load highly skewed toward night hours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Solar irradiance follows expected daytime curve</a:t>
            </a:r>
            <a:endParaRPr sz="1300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64" name="Google Shape;164;p19"/>
          <p:cNvGrpSpPr/>
          <p:nvPr/>
        </p:nvGrpSpPr>
        <p:grpSpPr>
          <a:xfrm>
            <a:off x="4170081" y="1700404"/>
            <a:ext cx="3598106" cy="3457290"/>
            <a:chOff x="262750" y="1105423"/>
            <a:chExt cx="8480100" cy="3818100"/>
          </a:xfrm>
        </p:grpSpPr>
        <p:cxnSp>
          <p:nvCxnSpPr>
            <p:cNvPr id="165" name="Google Shape;165;p19"/>
            <p:cNvCxnSpPr/>
            <p:nvPr/>
          </p:nvCxnSpPr>
          <p:spPr>
            <a:xfrm>
              <a:off x="262750" y="3037546"/>
              <a:ext cx="8480100" cy="0"/>
            </a:xfrm>
            <a:prstGeom prst="straightConnector1">
              <a:avLst/>
            </a:prstGeom>
            <a:noFill/>
            <a:ln w="13050" cap="flat" cmpd="sng">
              <a:solidFill>
                <a:srgbClr val="1155C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66" name="Google Shape;166;p19"/>
            <p:cNvCxnSpPr/>
            <p:nvPr/>
          </p:nvCxnSpPr>
          <p:spPr>
            <a:xfrm rot="10800000">
              <a:off x="4421817" y="1105423"/>
              <a:ext cx="600" cy="3818100"/>
            </a:xfrm>
            <a:prstGeom prst="straightConnector1">
              <a:avLst/>
            </a:prstGeom>
            <a:noFill/>
            <a:ln w="13050" cap="flat" cmpd="sng">
              <a:solidFill>
                <a:srgbClr val="1155C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7" name="Google Shape;167;p19"/>
          <p:cNvGrpSpPr/>
          <p:nvPr/>
        </p:nvGrpSpPr>
        <p:grpSpPr>
          <a:xfrm>
            <a:off x="4008964" y="1530133"/>
            <a:ext cx="3857936" cy="3845055"/>
            <a:chOff x="4370346" y="1462326"/>
            <a:chExt cx="4008662" cy="3984100"/>
          </a:xfrm>
        </p:grpSpPr>
        <p:sp>
          <p:nvSpPr>
            <p:cNvPr id="168" name="Google Shape;168;p19"/>
            <p:cNvSpPr/>
            <p:nvPr/>
          </p:nvSpPr>
          <p:spPr>
            <a:xfrm>
              <a:off x="4370346" y="1462761"/>
              <a:ext cx="1980000" cy="1980000"/>
            </a:xfrm>
            <a:prstGeom prst="ellipse">
              <a:avLst/>
            </a:prstGeom>
            <a:solidFill>
              <a:srgbClr val="B0FF00"/>
            </a:solidFill>
            <a:ln w="9525" cap="flat" cmpd="sng">
              <a:solidFill>
                <a:srgbClr val="B0FF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>
                  <a:solidFill>
                    <a:srgbClr val="1C458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Data Quality Checks</a:t>
              </a:r>
              <a:endParaRPr>
                <a:solidFill>
                  <a:srgbClr val="1C458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382830" y="1462326"/>
              <a:ext cx="1980000" cy="1980000"/>
            </a:xfrm>
            <a:prstGeom prst="ellipse">
              <a:avLst/>
            </a:prstGeom>
            <a:solidFill>
              <a:srgbClr val="F685DF">
                <a:alpha val="49690"/>
              </a:srgbClr>
            </a:solidFill>
            <a:ln w="9525" cap="flat" cmpd="sng">
              <a:solidFill>
                <a:srgbClr val="FFA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>
                  <a:solidFill>
                    <a:srgbClr val="1C458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Distribution Analysis</a:t>
              </a:r>
              <a:endParaRPr>
                <a:solidFill>
                  <a:srgbClr val="1C458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6399007" y="3466426"/>
              <a:ext cx="1980000" cy="1980000"/>
            </a:xfrm>
            <a:prstGeom prst="ellipse">
              <a:avLst/>
            </a:prstGeom>
            <a:solidFill>
              <a:srgbClr val="2DAEFD">
                <a:alpha val="57860"/>
              </a:srgbClr>
            </a:solidFill>
            <a:ln w="9525" cap="flat" cmpd="sng">
              <a:solidFill>
                <a:srgbClr val="80C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>
                  <a:solidFill>
                    <a:srgbClr val="1C458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Correlation Analysis</a:t>
              </a:r>
              <a:endParaRPr>
                <a:solidFill>
                  <a:srgbClr val="1C458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>
              <a:off x="4386525" y="3466426"/>
              <a:ext cx="1980000" cy="1980000"/>
            </a:xfrm>
            <a:prstGeom prst="ellipse">
              <a:avLst/>
            </a:prstGeom>
            <a:solidFill>
              <a:srgbClr val="00FFD2">
                <a:alpha val="64780"/>
              </a:srgbClr>
            </a:solidFill>
            <a:ln w="9525" cap="flat" cmpd="sng">
              <a:solidFill>
                <a:srgbClr val="00FFD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>
                  <a:solidFill>
                    <a:srgbClr val="1C458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Trend &amp; Pattern Insights</a:t>
              </a:r>
              <a:endParaRPr>
                <a:solidFill>
                  <a:srgbClr val="1C458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pic>
        <p:nvPicPr>
          <p:cNvPr id="172" name="Google Shape;172;p19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293225" y="352681"/>
            <a:ext cx="509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Target Variable Creation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0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0"/>
          <p:cNvGraphicFramePr/>
          <p:nvPr/>
        </p:nvGraphicFramePr>
        <p:xfrm>
          <a:off x="347925" y="1318467"/>
          <a:ext cx="11528500" cy="4623388"/>
        </p:xfrm>
        <a:graphic>
          <a:graphicData uri="http://schemas.openxmlformats.org/drawingml/2006/table">
            <a:tbl>
              <a:tblPr>
                <a:noFill/>
                <a:tableStyleId>{4A3593A7-778B-4FA9-BA18-24F12C0A7A28}</a:tableStyleId>
              </a:tblPr>
              <a:tblGrid>
                <a:gridCol w="576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4525"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55CC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 b="1">
                          <a:solidFill>
                            <a:srgbClr val="1155C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Load (Target Variable)</a:t>
                      </a:r>
                      <a:endParaRPr b="1">
                        <a:solidFill>
                          <a:srgbClr val="1155CC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Created using: Grid Load, Solar Generation, EV Charging Load</a:t>
                      </a:r>
                      <a:endParaRPr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9000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1155CC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 b="1">
                          <a:solidFill>
                            <a:srgbClr val="1155C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Supporting Input Columns Used</a:t>
                      </a:r>
                      <a:endParaRPr b="1">
                        <a:solidFill>
                          <a:srgbClr val="1155CC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Timestamp (converted to datetime index)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Grid Load / Total Load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Solar Irradiance / Solar Generation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EV Charging Load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Voltage Readings</a:t>
                      </a:r>
                      <a:endParaRPr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0225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1155CC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 b="1">
                          <a:solidFill>
                            <a:srgbClr val="1155C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Derived Feature Columns Initiated</a:t>
                      </a:r>
                      <a:endParaRPr b="1">
                        <a:solidFill>
                          <a:srgbClr val="1155CC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Load Factor, Daily Load Variation, EV Load Share, Voltage Deviation, </a:t>
                      </a:r>
                      <a:endParaRPr sz="1800"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4587"/>
                        </a:buClr>
                        <a:buSzPts val="1800"/>
                        <a:buFont typeface="Poppins"/>
                        <a:buChar char="●"/>
                      </a:pPr>
                      <a:r>
                        <a:rPr lang="en-IN" sz="1800">
                          <a:solidFill>
                            <a:srgbClr val="1C458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Weekend/Weekday Flag, Hour of Day, Day Type Indicator</a:t>
                      </a:r>
                      <a:endParaRPr>
                        <a:solidFill>
                          <a:srgbClr val="1C4587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81" name="Google Shape;181;p20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6212073" y="3674179"/>
            <a:ext cx="4789800" cy="2284500"/>
          </a:xfrm>
          <a:prstGeom prst="rect">
            <a:avLst/>
          </a:prstGeom>
          <a:solidFill>
            <a:srgbClr val="EFEFEF">
              <a:alpha val="77990"/>
            </a:srgbClr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Performance Metrics</a:t>
            </a:r>
            <a:endParaRPr sz="16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C4587"/>
              </a:buClr>
              <a:buSzPts val="1600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RMSE, MAE, MAPE used for model accuracy 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600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Compared baseline vs advanced models for best forecast reliability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1313384" y="1267825"/>
            <a:ext cx="4789800" cy="2284500"/>
          </a:xfrm>
          <a:prstGeom prst="rect">
            <a:avLst/>
          </a:prstGeom>
          <a:solidFill>
            <a:srgbClr val="EFEFEF">
              <a:alpha val="77990"/>
            </a:srgbClr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Data Scaling &amp; Normalization</a:t>
            </a:r>
            <a:endParaRPr sz="16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C4587"/>
              </a:buClr>
              <a:buSzPts val="1600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Applied StandardScaler / MinMaxScaler for load, EV, solar, and voltage features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600"/>
              <a:buFont typeface="Poppins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Ensured normalized ranges for improved model stability &amp; training speed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293225" y="352675"/>
            <a:ext cx="7633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Modeling Approach Overview 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21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/>
          <p:nvPr/>
        </p:nvSpPr>
        <p:spPr>
          <a:xfrm>
            <a:off x="6212073" y="1267825"/>
            <a:ext cx="4789800" cy="2284500"/>
          </a:xfrm>
          <a:prstGeom prst="rect">
            <a:avLst/>
          </a:prstGeom>
          <a:solidFill>
            <a:srgbClr val="EFEFEF">
              <a:alpha val="77990"/>
            </a:srgbClr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Train–Test Split</a:t>
            </a:r>
            <a:endParaRPr sz="16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C4587"/>
              </a:buClr>
              <a:buSzPts val="1600"/>
              <a:buFont typeface="Poppins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Time-based split (no shuffling) to preserve sequence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600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Typical split: 80% Train, 20% Test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1313384" y="3674179"/>
            <a:ext cx="4789800" cy="2284500"/>
          </a:xfrm>
          <a:prstGeom prst="rect">
            <a:avLst/>
          </a:prstGeom>
          <a:solidFill>
            <a:srgbClr val="EFEFEF">
              <a:alpha val="77990"/>
            </a:srgbClr>
          </a:solidFill>
          <a:ln w="9525" cap="flat" cmpd="sng">
            <a:solidFill>
              <a:srgbClr val="1155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Model Validation Strategy</a:t>
            </a:r>
            <a:endParaRPr sz="16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C4587"/>
              </a:buClr>
              <a:buSzPts val="1600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Used Time-Series Cross-Validation / Rolling Window Validation</a:t>
            </a:r>
            <a:endParaRPr sz="16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600"/>
              <a:buFont typeface="Poppins"/>
              <a:buChar char="●"/>
            </a:pPr>
            <a:r>
              <a:rPr lang="en-IN" sz="16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Evaluated models on unseen future intervals to avoid leakage</a:t>
            </a:r>
            <a:endParaRPr sz="180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/>
        </p:nvSpPr>
        <p:spPr>
          <a:xfrm>
            <a:off x="293225" y="385024"/>
            <a:ext cx="719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Model Performance &amp; Key Insights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p22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60" y="1408740"/>
            <a:ext cx="1188000" cy="11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2333" y="1566961"/>
            <a:ext cx="972000" cy="9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4589" y="1530983"/>
            <a:ext cx="1008125" cy="101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60976" y="1538143"/>
            <a:ext cx="1044000" cy="10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402193" y="3691851"/>
            <a:ext cx="2642100" cy="20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Achieved strong forecasting accuracy with low RMSE &amp; MAE</a:t>
            </a:r>
            <a:b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Advanced models 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outperformed baseline linear models, especially during peak hours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3274021" y="3696201"/>
            <a:ext cx="2527200" cy="24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Model accurately captured evening peak demand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EV charging load was identified as a major contributor to peak spikes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8961682" y="3711913"/>
            <a:ext cx="2785200" cy="27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High positive correlation: Temperature ↔ Load (cooling usage)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Weekday loads were consistently higher than weekend consumption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6232702" y="3696193"/>
            <a:ext cx="21519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Clear reduction in net load during high solar irradiance periods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Solar generation creates a strong daytime dip in grid dependency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602900" y="2902620"/>
            <a:ext cx="22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Model Accuracy</a:t>
            </a: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3431650" y="2931302"/>
            <a:ext cx="22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Peak Load Prediction    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188300" y="2931315"/>
            <a:ext cx="224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Solar Impact Insight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9262625" y="2942038"/>
            <a:ext cx="22407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IN" sz="15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Temperature &amp; Behavior Effects</a:t>
            </a:r>
            <a:endParaRPr sz="15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1" name="Google Shape;211;p22"/>
          <p:cNvPicPr preferRelativeResize="0"/>
          <p:nvPr/>
        </p:nvPicPr>
        <p:blipFill rotWithShape="1">
          <a:blip r:embed="rId8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305641" y="1713056"/>
            <a:ext cx="2702700" cy="3506400"/>
          </a:xfrm>
          <a:prstGeom prst="roundRect">
            <a:avLst>
              <a:gd name="adj" fmla="val 3093"/>
            </a:avLst>
          </a:prstGeom>
          <a:solidFill>
            <a:srgbClr val="EFF8FF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6235694" y="1713056"/>
            <a:ext cx="2702700" cy="3506400"/>
          </a:xfrm>
          <a:prstGeom prst="roundRect">
            <a:avLst>
              <a:gd name="adj" fmla="val 3093"/>
            </a:avLst>
          </a:prstGeom>
          <a:solidFill>
            <a:srgbClr val="EFF8FF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9200719" y="1713056"/>
            <a:ext cx="2702700" cy="3506400"/>
          </a:xfrm>
          <a:prstGeom prst="roundRect">
            <a:avLst>
              <a:gd name="adj" fmla="val 3093"/>
            </a:avLst>
          </a:prstGeom>
          <a:solidFill>
            <a:srgbClr val="EFF8FF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06404" y="2730681"/>
            <a:ext cx="2642100" cy="21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The most influential factors impacting the target variable include temperature, solar irradiance, EV charging load, and time-of-day patterns.</a:t>
            </a:r>
            <a:endParaRPr sz="1200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293225" y="383375"/>
            <a:ext cx="6988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Key Insights From the Analysis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9406527" y="2743398"/>
            <a:ext cx="2291100" cy="19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Features such as lag values, rolling averages, and derived load ratios improved model forecasting performance.</a:t>
            </a:r>
            <a:endParaRPr sz="1500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23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/>
          <p:nvPr/>
        </p:nvSpPr>
        <p:spPr>
          <a:xfrm>
            <a:off x="3270669" y="1713043"/>
            <a:ext cx="2702700" cy="3506400"/>
          </a:xfrm>
          <a:prstGeom prst="roundRect">
            <a:avLst>
              <a:gd name="adj" fmla="val 3093"/>
            </a:avLst>
          </a:prstGeom>
          <a:solidFill>
            <a:srgbClr val="EFF8FF"/>
          </a:solidFill>
          <a:ln w="9525" cap="flat" cmpd="sng">
            <a:solidFill>
              <a:srgbClr val="A4C2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06503" y="1912901"/>
            <a:ext cx="3072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Top Drivers Identified</a:t>
            </a:r>
            <a:endParaRPr sz="1200" b="1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3256330" y="1912906"/>
            <a:ext cx="27447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Time-Based Performance Shifts</a:t>
            </a:r>
            <a:endParaRPr sz="1200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6377850" y="1839473"/>
            <a:ext cx="24471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Business-Critical Anomalies Detected</a:t>
            </a:r>
            <a:endParaRPr sz="1500" b="1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9200728" y="1853826"/>
            <a:ext cx="26421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Engineered Features Boosted Accuracy</a:t>
            </a:r>
            <a:endParaRPr sz="1500" b="1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3300983" y="2741237"/>
            <a:ext cx="26421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Significant load variations observed during evening peaks, weekends, and high-temperature periods.</a:t>
            </a:r>
            <a:endParaRPr sz="1200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6363503" y="2741237"/>
            <a:ext cx="2447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rgbClr val="0C343D"/>
                </a:solidFill>
                <a:latin typeface="Poppins"/>
                <a:ea typeface="Poppins"/>
                <a:cs typeface="Poppins"/>
                <a:sym typeface="Poppins"/>
              </a:rPr>
              <a:t>Unexpected spikes in EV charging and voltage dips highlight areas requiring operational attention.</a:t>
            </a:r>
            <a:endParaRPr sz="1200">
              <a:solidFill>
                <a:srgbClr val="0C34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0" name="Google Shape;230;p23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307572" y="320251"/>
            <a:ext cx="5092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155CC"/>
                </a:solidFill>
                <a:latin typeface="Poppins"/>
                <a:ea typeface="Poppins"/>
                <a:cs typeface="Poppins"/>
                <a:sym typeface="Poppins"/>
              </a:rPr>
              <a:t>Final Recommendations</a:t>
            </a:r>
            <a:endParaRPr sz="1800" b="1">
              <a:solidFill>
                <a:srgbClr val="1155C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6" name="Google Shape;236;p24" descr="KPMG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861" y="6568875"/>
            <a:ext cx="612093" cy="24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 rot="5400000">
            <a:off x="931775" y="1444111"/>
            <a:ext cx="997200" cy="832200"/>
          </a:xfrm>
          <a:prstGeom prst="chevron">
            <a:avLst>
              <a:gd name="adj" fmla="val 27575"/>
            </a:avLst>
          </a:prstGeom>
          <a:solidFill>
            <a:srgbClr val="EFF8FF"/>
          </a:solidFill>
          <a:ln w="190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4"/>
          <p:cNvSpPr/>
          <p:nvPr/>
        </p:nvSpPr>
        <p:spPr>
          <a:xfrm rot="5400000">
            <a:off x="931775" y="2355004"/>
            <a:ext cx="997200" cy="832200"/>
          </a:xfrm>
          <a:prstGeom prst="chevron">
            <a:avLst>
              <a:gd name="adj" fmla="val 27575"/>
            </a:avLst>
          </a:prstGeom>
          <a:solidFill>
            <a:srgbClr val="EFF8FF"/>
          </a:solidFill>
          <a:ln w="190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4"/>
          <p:cNvSpPr/>
          <p:nvPr/>
        </p:nvSpPr>
        <p:spPr>
          <a:xfrm rot="5400000">
            <a:off x="931775" y="3269404"/>
            <a:ext cx="997200" cy="832200"/>
          </a:xfrm>
          <a:prstGeom prst="chevron">
            <a:avLst>
              <a:gd name="adj" fmla="val 27575"/>
            </a:avLst>
          </a:prstGeom>
          <a:solidFill>
            <a:srgbClr val="EFF8FF"/>
          </a:solidFill>
          <a:ln w="190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4"/>
          <p:cNvSpPr/>
          <p:nvPr/>
        </p:nvSpPr>
        <p:spPr>
          <a:xfrm rot="5400000">
            <a:off x="931775" y="4188267"/>
            <a:ext cx="997200" cy="832200"/>
          </a:xfrm>
          <a:prstGeom prst="chevron">
            <a:avLst>
              <a:gd name="adj" fmla="val 27575"/>
            </a:avLst>
          </a:prstGeom>
          <a:solidFill>
            <a:srgbClr val="EFF8FF"/>
          </a:solidFill>
          <a:ln w="190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"/>
          <p:cNvSpPr/>
          <p:nvPr/>
        </p:nvSpPr>
        <p:spPr>
          <a:xfrm rot="5400000">
            <a:off x="931775" y="5112551"/>
            <a:ext cx="997200" cy="832200"/>
          </a:xfrm>
          <a:prstGeom prst="chevron">
            <a:avLst>
              <a:gd name="adj" fmla="val 27575"/>
            </a:avLst>
          </a:prstGeom>
          <a:solidFill>
            <a:srgbClr val="EFF8FF"/>
          </a:solidFill>
          <a:ln w="19050" cap="flat" cmpd="sng">
            <a:solidFill>
              <a:srgbClr val="1C458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2482943" y="2182037"/>
            <a:ext cx="372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 dirty="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Solar Energy Optimization</a:t>
            </a:r>
            <a:endParaRPr sz="1500" b="1" dirty="0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473059" y="3137058"/>
            <a:ext cx="372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EV Charging Load Control</a:t>
            </a:r>
            <a:endParaRPr sz="15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2473059" y="4064849"/>
            <a:ext cx="372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Grid Stability Improvements</a:t>
            </a:r>
            <a:endParaRPr sz="15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2473047" y="4994552"/>
            <a:ext cx="4778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Advanced Forecasting Integration</a:t>
            </a:r>
            <a:endParaRPr sz="15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2482950" y="1318574"/>
            <a:ext cx="891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Peak Load Management</a:t>
            </a:r>
            <a:endParaRPr sz="15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2491864" y="2611206"/>
            <a:ext cx="891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Introduce targeted Demand Response Programs during evening peaks, especially for EV-heavy clusters.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2491864" y="1611963"/>
            <a:ext cx="8914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Introduce targeted Demand Response Programs during evening peaks, especially for EV-heavy clusters.</a:t>
            </a:r>
            <a:endParaRPr sz="15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2477516" y="3426416"/>
            <a:ext cx="89145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Encourage off-peak EV charging through pricing incentives</a:t>
            </a:r>
            <a:b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 smart EV chargers to smooth sudden load spikes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2506211" y="4373017"/>
            <a:ext cx="89145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Reinforce feeders in high-load zones with frequent voltage dips</a:t>
            </a:r>
            <a:b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Implement voltage regulation devices (AVRs / capacitors)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2477516" y="5277534"/>
            <a:ext cx="89145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the model in real-time operations for day-ahead &amp; hour-ahead load planning</a:t>
            </a:r>
            <a:b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I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Helps reduce grid stress and improves supply reliability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1251090" y="1606261"/>
            <a:ext cx="612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8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1224804" y="2521596"/>
            <a:ext cx="612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8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1200573" y="3431472"/>
            <a:ext cx="612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8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4"/>
          <p:cNvSpPr txBox="1"/>
          <p:nvPr/>
        </p:nvSpPr>
        <p:spPr>
          <a:xfrm>
            <a:off x="1174890" y="4335114"/>
            <a:ext cx="612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8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1193701" y="5253977"/>
            <a:ext cx="6120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800" b="1">
              <a:solidFill>
                <a:srgbClr val="1C458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4">
            <a:alphaModFix/>
          </a:blip>
          <a:srcRect b="21241"/>
          <a:stretch/>
        </p:blipFill>
        <p:spPr>
          <a:xfrm>
            <a:off x="10832800" y="6326776"/>
            <a:ext cx="881999" cy="5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Office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Play</vt:lpstr>
      <vt:lpstr>Poppins Light</vt:lpstr>
      <vt:lpstr>Poppins ExtraLight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Mohit  Rawat</cp:lastModifiedBy>
  <cp:revision>1</cp:revision>
  <dcterms:modified xsi:type="dcterms:W3CDTF">2026-06-02T17:22:11Z</dcterms:modified>
</cp:coreProperties>
</file>